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737360"/>
            <a:ext cx="5120640" cy="5120640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4023360"/>
            <a:ext cx="1737360" cy="1737360"/>
          </a:xfrm>
          <a:prstGeom prst="ellipse">
            <a:avLst/>
          </a:prstGeom>
          <a:noFill/>
          <a:ln w="1524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4892040"/>
            <a:ext cx="146304" cy="146304"/>
          </a:xfrm>
          <a:prstGeom prst="ellipse">
            <a:avLst/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480F"/>
                </a:solidFill>
                <a:latin typeface="Arial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26231E"/>
                </a:solidFill>
                <a:latin typeface="Georgia"/>
              </a:rPr>
              <a:t>Rush Bites</a:t>
            </a:r>
            <a:r>
              <a:rPr sz="6000" b="1" i="0">
                <a:solidFill>
                  <a:srgbClr val="D9480F"/>
                </a:solidFill>
                <a:latin typeface="Georgia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29000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8A847A"/>
                </a:solidFill>
                <a:latin typeface="Arial"/>
              </a:rPr>
              <a:t>Campus dining, pre-ordered — a pre-ordering and kitchen-operations platform that replaces counter queues with scheduled, token-based pickups.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0218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0218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8566" y="5074920"/>
            <a:ext cx="107716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8566" y="5074920"/>
            <a:ext cx="107716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Express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2033" y="5074920"/>
            <a:ext cx="137708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2033" y="5074920"/>
            <a:ext cx="13770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MongoDB Atlas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5424" y="5074920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5074920"/>
            <a:ext cx="11521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Clerk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33872" y="5074920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5074920"/>
            <a:ext cx="115214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Cloudinary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A"/>
                </a:solidFill>
                <a:latin typeface="Arial"/>
              </a:rPr>
              <a:t>Academic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01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Why campus dining needed a rethink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6231E"/>
                </a:solidFill>
                <a:latin typeface="Arial"/>
              </a:rPr>
              <a:t>Every lunch break, thousands descend on campus canteens within the same 30–45 minute window — and the counter collapses into chaos.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9480F"/>
                </a:solidFill>
                <a:latin typeface="Georgia"/>
              </a:rPr>
              <a:t>Rush Bites</a:t>
            </a:r>
            <a:r>
              <a:rPr sz="2100" b="0" i="0">
                <a:solidFill>
                  <a:srgbClr val="26231E"/>
                </a:solidFill>
                <a:latin typeface="Georgia"/>
              </a:rPr>
              <a:t> moves the queue online: students order ahead, kitchens work a digital stream, and pickups happen by token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4114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One responsive web app — no installs, no POS hardware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Two experiences: customer marketplace + vendor console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874519"/>
            <a:ext cx="312724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30952" y="2148839"/>
            <a:ext cx="274320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0952" y="2331720"/>
            <a:ext cx="2615184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6231E"/>
                </a:solidFill>
                <a:latin typeface="Arial"/>
              </a:rPr>
              <a:t>Peak-hour bottlenecks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A"/>
                </a:solidFill>
                <a:latin typeface="Arial"/>
              </a:rPr>
              <a:t>15–25 minutes just standing in line, inside a 30–45 min break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03336" y="1874519"/>
            <a:ext cx="312724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59367" y="2148839"/>
            <a:ext cx="274320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7" y="2331720"/>
            <a:ext cx="2615184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6231E"/>
                </a:solidFill>
                <a:latin typeface="Arial"/>
              </a:rPr>
              <a:t>Order invisibility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A"/>
                </a:solidFill>
                <a:latin typeface="Arial"/>
              </a:rPr>
              <a:t>Shouted orders, lost paper slips, and zero advance demand visibility for kitchens.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4160520"/>
            <a:ext cx="312724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30952" y="44348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4617720"/>
            <a:ext cx="2615184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6231E"/>
                </a:solidFill>
                <a:latin typeface="Arial"/>
              </a:rPr>
              <a:t>Payment friction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A"/>
                </a:solidFill>
                <a:latin typeface="Arial"/>
              </a:rPr>
              <a:t>Cash change delays; static UPI QRs force manual amounts and disputes.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03336" y="4160520"/>
            <a:ext cx="3127248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59367" y="44348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7" y="4617720"/>
            <a:ext cx="2615184" cy="1444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26231E"/>
                </a:solidFill>
                <a:latin typeface="Arial"/>
              </a:rPr>
              <a:t>Fragmented vendors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47A"/>
                </a:solidFill>
                <a:latin typeface="Arial"/>
              </a:rPr>
              <a:t>No central directory of open counters, live menus, prices or wait times.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02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One platform, three stakeholder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1129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Browse menus &amp; pre-order from classrooms, libraries or dorms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Live queue position and dynamic ready-time ETA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Cash on pickup or amount-locked UPI QR payments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One-tap reorder with real-time stock re-validation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Order-verified 1–5 star reviews for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783080"/>
            <a:ext cx="351129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Vendors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5059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Zero-hardware kitchen console on any phone, tablet or laptop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Atomic daily token numbers (#1, #2…) that reset every morning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Lifecycle queue: pending → accepted → preparing → ready → done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Instant audio chimes and high-contrast new-order banners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Settlement views for collected revenue vs. unpaid debt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783080"/>
            <a:ext cx="3511296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450592"/>
            <a:ext cx="2999232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Decongest rush zones across campus at lunch intervals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Data-driven menu planning from live sales analytics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Drastically reduced food waste via demand visibility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Open onboarding — any verified seller live in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49240"/>
            <a:ext cx="10911535" cy="841248"/>
          </a:xfrm>
          <a:prstGeom prst="roundRect">
            <a:avLst>
              <a:gd name="adj" fmla="val 8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62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480F"/>
                </a:solidFill>
                <a:latin typeface="Arial"/>
              </a:rPr>
              <a:t>Delivered in MVP   —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Role-based auth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Multi-canteen marketplace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Single-vendor cart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Atomic daily tokens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Amount-locked UPI QR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Live queue polling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Web Audio alerts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Verified reviews</a:t>
            </a:r>
            <a:r>
              <a:rPr sz="1150" b="1" i="0">
                <a:solidFill>
                  <a:srgbClr val="D9480F"/>
                </a:solidFill>
                <a:latin typeface="Arial"/>
              </a:rPr>
              <a:t>   ·  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Light / dark theme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03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Decoupled architecture, disciplined order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47A"/>
                </a:solidFill>
                <a:latin typeface="Arial"/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977639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520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E"/>
                </a:solidFill>
                <a:latin typeface="Arial"/>
              </a:rPr>
              <a:t>React 19 SPA</a:t>
            </a:r>
            <a:r>
              <a:rPr sz="1050" b="0" i="0">
                <a:solidFill>
                  <a:srgbClr val="8A847A"/>
                </a:solidFill>
                <a:latin typeface="Arial"/>
              </a:rPr>
              <a:t>   customers &amp; vendors · Clerk auth · Web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1740" y="292608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3977639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3520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E"/>
                </a:solidFill>
                <a:latin typeface="Arial"/>
              </a:rPr>
              <a:t>Express 5 REST API</a:t>
            </a:r>
            <a:r>
              <a:rPr sz="1050" b="0" i="0">
                <a:solidFill>
                  <a:srgbClr val="8A847A"/>
                </a:solidFill>
                <a:latin typeface="Arial"/>
              </a:rPr>
              <a:t>   rate limits · JWT middleware ·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740" y="40233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9019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901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6231E"/>
                </a:solidFill>
                <a:latin typeface="Arial"/>
              </a:rPr>
              <a:t>MongoDB Atlas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A"/>
                </a:solidFill>
                <a:latin typeface="Arial"/>
              </a:rPr>
              <a:t>users · orders · counters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15768" y="4343400"/>
            <a:ext cx="19019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4343400"/>
            <a:ext cx="1901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6231E"/>
                </a:solidFill>
                <a:latin typeface="Arial"/>
              </a:rPr>
              <a:t>Cloudinary CDN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47A"/>
                </a:solidFill>
                <a:latin typeface="Arial"/>
              </a:rPr>
              <a:t>canteen &amp; dish 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47A"/>
                </a:solidFill>
                <a:latin typeface="Arial"/>
              </a:rPr>
              <a:t>Stateless REST core over HTTPS/JSON — engineered for shared campus Wi-Fi, shared NAT and flaky mobile connections.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83080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47A"/>
                </a:solidFill>
                <a:latin typeface="Arial"/>
              </a:rPr>
              <a:t>ORDER LIFECYCLE STATE MACHINE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121408"/>
            <a:ext cx="10789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214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31E"/>
                </a:solidFill>
                <a:latin typeface="Arial"/>
              </a:rPr>
              <a:t>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203703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2121408"/>
            <a:ext cx="10789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1214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31E"/>
                </a:solidFill>
                <a:latin typeface="Arial"/>
              </a:rPr>
              <a:t>accepted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2203703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35824" y="2121408"/>
            <a:ext cx="10789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21214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31E"/>
                </a:solidFill>
                <a:latin typeface="Arial"/>
              </a:rPr>
              <a:t>preparing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2203703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89136" y="2121408"/>
            <a:ext cx="10789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21214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31E"/>
                </a:solidFill>
                <a:latin typeface="Arial"/>
              </a:rPr>
              <a:t>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2203703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42448" y="2121408"/>
            <a:ext cx="1078992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42448" y="2121408"/>
            <a:ext cx="10789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231E"/>
                </a:solidFill>
                <a:latin typeface="Arial"/>
              </a:rPr>
              <a:t>completed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697480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47A"/>
                </a:solidFill>
                <a:latin typeface="Arial"/>
              </a:rPr>
              <a:t>cancel / reject:  </a:t>
            </a:r>
            <a:r>
              <a:rPr sz="1000" b="0" i="0">
                <a:solidFill>
                  <a:srgbClr val="8A847A"/>
                </a:solidFill>
                <a:latin typeface="Arial"/>
              </a:rPr>
              <a:t>only from pending or accepted, and only for unpaid cash orders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154680"/>
            <a:ext cx="6522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47A"/>
                </a:solidFill>
                <a:latin typeface="Arial"/>
              </a:rPr>
              <a:t>KEY ENGINEERING SOLUTIONS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493008"/>
            <a:ext cx="652241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1" i="0">
                <a:solidFill>
                  <a:srgbClr val="26231E"/>
                </a:solidFill>
                <a:latin typeface="Arial"/>
              </a:rPr>
              <a:t>Atomic daily tokens  —  </a:t>
            </a:r>
            <a:r>
              <a:rPr sz="1050" b="0" i="0">
                <a:solidFill>
                  <a:srgbClr val="8A847A"/>
                </a:solidFill>
                <a:latin typeface="Arial"/>
              </a:rPr>
              <a:t>Mongo $inc on {canteen, day}: race-free, zero-gap #1, #2… with no distributed locks.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1" i="0">
                <a:solidFill>
                  <a:srgbClr val="26231E"/>
                </a:solidFill>
                <a:latin typeface="Arial"/>
              </a:rPr>
              <a:t>Amount-locked UPI deep links  —  </a:t>
            </a:r>
            <a:r>
              <a:rPr sz="1050" b="0" i="0">
                <a:solidFill>
                  <a:srgbClr val="8A847A"/>
                </a:solidFill>
                <a:latin typeface="Arial"/>
              </a:rPr>
              <a:t>NPCI intent URI rendered as client-side SVG QR; totals pre-filled, no manual typing.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1" i="0">
                <a:solidFill>
                  <a:srgbClr val="26231E"/>
                </a:solidFill>
                <a:latin typeface="Arial"/>
              </a:rPr>
              <a:t>Live queue ETA  —  </a:t>
            </a:r>
            <a:r>
              <a:rPr sz="1050" b="0" i="0">
                <a:solidFill>
                  <a:srgbClr val="8A847A"/>
                </a:solidFill>
                <a:latin typeface="Arial"/>
              </a:rPr>
              <a:t>prep time + 2 min × orders-ahead, computed from one source of truth for both screens.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1" i="0">
                <a:solidFill>
                  <a:srgbClr val="26231E"/>
                </a:solidFill>
                <a:latin typeface="Arial"/>
              </a:rPr>
              <a:t>Campus-NAT rate limiting  —  </a:t>
            </a:r>
            <a:r>
              <a:rPr sz="1050" b="0" i="0">
                <a:solidFill>
                  <a:srgbClr val="8A847A"/>
                </a:solidFill>
                <a:latin typeface="Arial"/>
              </a:rPr>
              <a:t>per-user buckets with IP-subnet fallback and tiered thresholds (orders, auth, uploads).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1" i="0">
                <a:solidFill>
                  <a:srgbClr val="26231E"/>
                </a:solidFill>
                <a:latin typeface="Arial"/>
              </a:rPr>
              <a:t>Offline resilience  —  </a:t>
            </a:r>
            <a:r>
              <a:rPr sz="1050" b="0" i="0">
                <a:solidFill>
                  <a:srgbClr val="8A847A"/>
                </a:solidFill>
                <a:latin typeface="Arial"/>
              </a:rPr>
              <a:t>15 s health heartbeat, connection banners, Cloudinary→Base64 image fallback.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04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A deliberate, modern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5838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8424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31E"/>
                </a:solidFill>
                <a:latin typeface="Georgia"/>
              </a:rP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404872"/>
            <a:ext cx="1002182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04872"/>
            <a:ext cx="100218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React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6310" y="2404872"/>
            <a:ext cx="852220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6310" y="2404872"/>
            <a:ext cx="8522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Vite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6547" y="2404872"/>
            <a:ext cx="1227124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6547" y="2404872"/>
            <a:ext cx="12271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Clerk 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404872"/>
            <a:ext cx="1377086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404872"/>
            <a:ext cx="137708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react-qr-code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825496"/>
            <a:ext cx="1377086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25496"/>
            <a:ext cx="137708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Web Audio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1214" y="2825496"/>
            <a:ext cx="1302105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01214" y="2825496"/>
            <a:ext cx="130210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Vanilla CSS3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783080"/>
            <a:ext cx="535838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98424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31E"/>
                </a:solidFill>
                <a:latin typeface="Georgia"/>
              </a:rP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40487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404872"/>
            <a:ext cx="1152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Node.js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2404872"/>
            <a:ext cx="1077163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2404872"/>
            <a:ext cx="107716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Express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1859" y="2404872"/>
            <a:ext cx="1377086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1859" y="2404872"/>
            <a:ext cx="137708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Clerk Express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825496"/>
            <a:ext cx="1751990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25496"/>
            <a:ext cx="17519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express-rate-limit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6526" y="2825496"/>
            <a:ext cx="702259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6526" y="2825496"/>
            <a:ext cx="7022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6801" y="2825496"/>
            <a:ext cx="852220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6801" y="2825496"/>
            <a:ext cx="8522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dotenv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730752"/>
            <a:ext cx="535838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3931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31E"/>
                </a:solidFill>
                <a:latin typeface="Georgia"/>
              </a:rPr>
              <a:t>Data &amp; Media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" y="4352544"/>
            <a:ext cx="1527048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352544"/>
            <a:ext cx="15270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MongoDB Atlas 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51176" y="4352544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51176" y="4352544"/>
            <a:ext cx="1152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Mongoose 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" y="4773168"/>
            <a:ext cx="1976932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4773168"/>
            <a:ext cx="19769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Aggregation pipelines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01060" y="4773168"/>
            <a:ext cx="1452067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1060" y="4773168"/>
            <a:ext cx="145206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Cloudinary CDN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6112" y="5193792"/>
            <a:ext cx="1602028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193792"/>
            <a:ext cx="16020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Compound indexes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90488" y="3730752"/>
            <a:ext cx="5358384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319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31E"/>
                </a:solidFill>
                <a:latin typeface="Georgia"/>
              </a:rPr>
              <a:t>Design &amp; UX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4352544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352544"/>
            <a:ext cx="1901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CSS variable theming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76488" y="4352544"/>
            <a:ext cx="1751990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6488" y="4352544"/>
            <a:ext cx="17519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Dark / light modes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4773168"/>
            <a:ext cx="2801721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773168"/>
            <a:ext cx="280172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Print stylesheet for token slips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76257" y="4773168"/>
            <a:ext cx="1677009" cy="329184"/>
          </a:xfrm>
          <a:prstGeom prst="roundRect">
            <a:avLst>
              <a:gd name="adj" fmla="val 50000"/>
            </a:avLst>
          </a:prstGeom>
          <a:solidFill>
            <a:srgbClr val="FAF8F4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76257" y="4773168"/>
            <a:ext cx="167700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6231E"/>
                </a:solidFill>
                <a:latin typeface="Arial"/>
              </a:rPr>
              <a:t>Responsive layout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486400"/>
            <a:ext cx="10911535" cy="713232"/>
          </a:xfrm>
          <a:prstGeom prst="roundRect">
            <a:avLst>
              <a:gd name="adj" fmla="val 8000"/>
            </a:avLst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486400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480F"/>
                </a:solidFill>
                <a:latin typeface="Arial"/>
              </a:rPr>
              <a:t>Why this stack — </a:t>
            </a:r>
            <a:r>
              <a:rPr sz="1150" b="0" i="0">
                <a:solidFill>
                  <a:srgbClr val="26231E"/>
                </a:solidFill>
                <a:latin typeface="Arial"/>
              </a:rPr>
              <a:t>zero-dependency audio synthesis (no mp3 404s), atomic Mongo operations for concurrency, CDN images auto-capped at 1200px, and sub-second loads on 4G.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05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From schema to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11296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50592"/>
            <a:ext cx="299923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6 Mongoose models — User, Canteen, Menu, Order, Counter, Review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Compound unique index {canteen, day} powers daily tokens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Denormalized rating aggregates on canteens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Structured payment sub-document with UTR reference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783080"/>
            <a:ext cx="3511296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50592"/>
            <a:ext cx="299923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REST modules — /auth, /canteens, /menu, /orders, /reviews, /uploads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Role-scoped vendor routes for queue, stats and status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Route-order guard: /mine declared before /:id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Server-enforced single-canteen cart invariant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783080"/>
            <a:ext cx="3511296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11296" cy="82296"/>
          </a:xfrm>
          <a:prstGeom prst="roundRect">
            <a:avLst>
              <a:gd name="adj" fmla="val 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3" y="2011680"/>
            <a:ext cx="29992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E"/>
                </a:solidFill>
                <a:latin typeface="Georgia"/>
              </a:rPr>
              <a:t>Client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450592"/>
            <a:ext cx="299923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Context chain — Profile → Canteen → Cart, no Redux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Role-adaptive tabs for customers vs. vendors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PayModal builds NPCI URI and renders SVG QR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tone() engine synthesizes chimes; @media print token slips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A847A"/>
                </a:solidFill>
                <a:latin typeface="Arial"/>
              </a:rPr>
              <a:t>THE VERIFIED USER JOURNEY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Order placed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2848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Kitchen chime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6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5616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Accept · prepare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5504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58384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58384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Ready chime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31152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Token #14 pickup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Payment confirmed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5422392"/>
            <a:ext cx="1645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480F"/>
                </a:solidFill>
                <a:latin typeface="Arial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76688" y="534924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5349240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5★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480F"/>
                </a:solidFill>
                <a:latin typeface="Georgia"/>
              </a:rPr>
              <a:t>06  </a:t>
            </a:r>
            <a:r>
              <a:rPr sz="1200" b="1" i="0">
                <a:solidFill>
                  <a:srgbClr val="8A847A"/>
                </a:solidFill>
                <a:latin typeface="Arial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E"/>
                </a:solidFill>
                <a:latin typeface="Georgia"/>
              </a:rPr>
              <a:t>Measured impact on campus dining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81328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58775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38528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9480F"/>
                </a:solidFill>
                <a:latin typeface="Georgia"/>
              </a:rPr>
              <a:t>~100%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43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Arial"/>
              </a:rPr>
              <a:t>queue wait eliminated — walk straight to pickup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783080"/>
            <a:ext cx="258775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938528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9480F"/>
                </a:solidFill>
                <a:latin typeface="Georgia"/>
              </a:rPr>
              <a:t>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743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Arial"/>
              </a:rPr>
              <a:t>kitchen throughput — 80–120 orders/hour vs. 25–35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8775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9480F"/>
                </a:solidFill>
                <a:latin typeface="Georgia"/>
              </a:rP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Arial"/>
              </a:rPr>
              <a:t>order errors — exact items, quantities and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1976" y="1783080"/>
            <a:ext cx="258775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1432" y="1938528"/>
            <a:ext cx="2148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D9480F"/>
                </a:solidFill>
                <a:latin typeface="Georgia"/>
              </a:rPr>
              <a:t>₹0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7432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47A"/>
                </a:solidFill>
                <a:latin typeface="Arial"/>
              </a:rPr>
              <a:t>hardware spend — runs on any existing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358384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404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E"/>
                </a:solidFill>
                <a:latin typeface="Georgia"/>
              </a:rPr>
              <a:t>Built for real campuses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279392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Zero-hardware parity — phone as order receiver, tablet as 'Now Serving' display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Dual-mode settlement — locked UPI totals plus tracked unpaid cash debt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Survives shared-NAT Wi-Fi, silent JWT rotation and database drops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11880"/>
            <a:ext cx="5358384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38404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E"/>
                </a:solidFill>
                <a:latin typeface="Georgia"/>
              </a:rPr>
              <a:t>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279392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WebSockets / SSE — sub-second push updates for kitchens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Web Push + WhatsApp alerts — order-ready pings beyond the browser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RFID smartcard wallets — direct campus meal-plan deduction</a:t>
            </a:r>
          </a:p>
          <a:p>
            <a:pPr algn="l">
              <a:lnSpc>
                <a:spcPct val="112000"/>
              </a:lnSpc>
              <a:spcBef>
                <a:spcPts val="900"/>
              </a:spcBef>
              <a:spcAft>
                <a:spcPts val="0"/>
              </a:spcAft>
            </a:pPr>
            <a:r>
              <a:rPr sz="1050" b="1" i="0">
                <a:solidFill>
                  <a:srgbClr val="D9480F"/>
                </a:solidFill>
                <a:latin typeface="Arial"/>
              </a:rPr>
              <a:t>•  </a:t>
            </a:r>
            <a:r>
              <a:rPr sz="1050" b="0" i="0">
                <a:solidFill>
                  <a:srgbClr val="26231E"/>
                </a:solidFill>
                <a:latin typeface="Arial"/>
              </a:rPr>
              <a:t>Predictive prep analytics — forecast demand before the bell rings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6455664"/>
            <a:ext cx="10911535" cy="10972"/>
          </a:xfrm>
          <a:prstGeom prst="roundRect">
            <a:avLst>
              <a:gd name="adj" fmla="val 0"/>
            </a:avLst>
          </a:prstGeom>
          <a:solidFill>
            <a:srgbClr val="E8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Rush Bites —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7215" y="652881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47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206240"/>
            <a:ext cx="4206240" cy="4206240"/>
          </a:xfrm>
          <a:prstGeom prst="ellipse">
            <a:avLst/>
          </a:prstGeom>
          <a:solidFill>
            <a:srgbClr val="FBE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286000"/>
            <a:ext cx="90799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26231E"/>
                </a:solidFill>
                <a:latin typeface="Georgia"/>
              </a:rPr>
              <a:t>Thank you</a:t>
            </a:r>
            <a:r>
              <a:rPr sz="5400" b="1" i="0">
                <a:solidFill>
                  <a:srgbClr val="D9480F"/>
                </a:solidFill>
                <a:latin typeface="Georgia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2383" y="3520440"/>
            <a:ext cx="566928" cy="4572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3749039"/>
            <a:ext cx="9079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A847A"/>
                </a:solidFill>
                <a:latin typeface="Arial"/>
              </a:rPr>
              <a:t>Rush Bites — campus dining, pre-ordered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4297680"/>
            <a:ext cx="9079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Questions &amp; discussion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5029200"/>
            <a:ext cx="12571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5029200"/>
            <a:ext cx="125711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5413" y="5029200"/>
            <a:ext cx="111465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5413" y="5029200"/>
            <a:ext cx="111465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8082" y="5029200"/>
            <a:ext cx="118588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8082" y="5029200"/>
            <a:ext cx="118588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Methodology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984" y="5029200"/>
            <a:ext cx="12571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984" y="5029200"/>
            <a:ext cx="125711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Technologies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7117" y="5029200"/>
            <a:ext cx="13995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7117" y="5029200"/>
            <a:ext cx="13995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Implementation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4713" y="5029200"/>
            <a:ext cx="97219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713" y="5029200"/>
            <a:ext cx="97219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6231E"/>
                </a:solidFill>
                <a:latin typeface="Arial"/>
              </a:rPr>
              <a:t>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Rush Bites — Project Presentation</dc:title>
  <dc:subject/>
  <dc:creator>Rush Bites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